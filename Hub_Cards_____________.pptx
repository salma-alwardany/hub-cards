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افتح بالطاقة: اقرأ، جاوب بسرعة، أو نفّذ الحُكم. عرّف اللعبة في جملة.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القراءة حلوة بس اللمّة محتاجة حاجة تكسر الجمود وتجمع القُرّاء في تحدّي ممتع.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٢ إلى ٥ لاعبين، ١٠ جولات، تليفون واحد بيتسلّم. أسئلة عن الكتب بإجابات لا نهائية زي الأونو.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 خطوات: اسحب كارت، عندك عشر ثواني، الباقي يحكموا. ووضّح نظام النقط والجولة الأخيرة.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خمس أنواع: سؤال، حُكم، حصانة، ضعف النقط، اقلب الحُكم. ركّز على الحُكم لأنه اللي بينشر اللعبة.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استعرض الهوية: بترولي، تركواز، ذهبي، كريمي، خط Tajawal. وبعدها الست شاشات من البداية للنهاية.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فيروسية بالتصميم، محتوى لا نهائي، بتشجّع القراءة، اجتماعية مفيش متفرّج.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متاحة فوراً: ويب وأندرويد. اقفل بالتاجلاين وادعوهم يلعبوا دلوقتي.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A5E62">
                  <a:alpha val="100000"/>
                </a:srgbClr>
              </a:gs>
              <a:gs pos="50000">
                <a:srgbClr val="134A4E">
                  <a:alpha val="100000"/>
                </a:srgbClr>
              </a:gs>
              <a:gs pos="100000">
                <a:srgbClr val="0C3134">
                  <a:alpha val="100000"/>
                </a:srgbClr>
              </a:gs>
            </a:gsLst>
            <a:path path="circle">
              <a:fillToRect l="50000" t="12000" r="50000" b="88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4997838" y="7870358"/>
            <a:ext cx="2875955" cy="3365189"/>
          </a:xfrm>
          <a:prstGeom prst="roundRect">
            <a:avLst>
              <a:gd name="adj" fmla="val 7949"/>
            </a:avLst>
          </a:prstGeom>
          <a:solidFill>
            <a:srgbClr val="3FC6C9"/>
          </a:solidFill>
          <a:ln/>
        </p:spPr>
      </p:sp>
      <p:sp>
        <p:nvSpPr>
          <p:cNvPr id="4" name="Shape 2"/>
          <p:cNvSpPr/>
          <p:nvPr/>
        </p:nvSpPr>
        <p:spPr>
          <a:xfrm>
            <a:off x="13810091" y="8492835"/>
            <a:ext cx="2289724" cy="2996714"/>
          </a:xfrm>
          <a:prstGeom prst="roundRect">
            <a:avLst>
              <a:gd name="adj" fmla="val 9984"/>
            </a:avLst>
          </a:prstGeom>
          <a:solidFill>
            <a:srgbClr val="F5B83E"/>
          </a:solidFill>
          <a:ln/>
        </p:spPr>
      </p:sp>
      <p:sp>
        <p:nvSpPr>
          <p:cNvPr id="5" name="Shape 3"/>
          <p:cNvSpPr/>
          <p:nvPr/>
        </p:nvSpPr>
        <p:spPr>
          <a:xfrm>
            <a:off x="734128" y="7668749"/>
            <a:ext cx="2801958" cy="3324404"/>
          </a:xfrm>
          <a:prstGeom prst="roundRect">
            <a:avLst>
              <a:gd name="adj" fmla="val 8159"/>
            </a:avLst>
          </a:prstGeom>
          <a:solidFill>
            <a:srgbClr val="FBF6EA"/>
          </a:solidFill>
          <a:ln/>
        </p:spPr>
      </p:sp>
      <p:sp>
        <p:nvSpPr>
          <p:cNvPr id="6" name="Shape 4"/>
          <p:cNvSpPr/>
          <p:nvPr/>
        </p:nvSpPr>
        <p:spPr>
          <a:xfrm>
            <a:off x="8429625" y="3113722"/>
            <a:ext cx="838200" cy="838200"/>
          </a:xfrm>
          <a:prstGeom prst="ellipse">
            <a:avLst/>
          </a:prstGeom>
          <a:ln w="99060">
            <a:solidFill>
              <a:srgbClr val="F5B8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20175" y="3113722"/>
            <a:ext cx="838200" cy="838200"/>
          </a:xfrm>
          <a:prstGeom prst="ellipse">
            <a:avLst/>
          </a:prstGeom>
          <a:ln w="99060">
            <a:solidFill>
              <a:srgbClr val="3FC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54962" y="4285297"/>
            <a:ext cx="10315885" cy="139255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850" b="1" spc="450" kern="0" dirty="0">
                <a:solidFill>
                  <a:srgbClr val="F5B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CARDS</a:t>
            </a:r>
            <a:endParaRPr lang="en-US" sz="11850" dirty="0"/>
          </a:p>
        </p:txBody>
      </p:sp>
      <p:sp>
        <p:nvSpPr>
          <p:cNvPr id="9" name="Text 7"/>
          <p:cNvSpPr/>
          <p:nvPr/>
        </p:nvSpPr>
        <p:spPr>
          <a:xfrm>
            <a:off x="8500110" y="5696903"/>
            <a:ext cx="1416558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150" kern="0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هَب كاردز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633210" y="6481763"/>
            <a:ext cx="5021699" cy="777240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/>
          <a:effectLst>
            <a:outerShdw sx="100000" sy="100000" kx="0" ky="0" algn="bl" rotWithShape="0" blurRad="323850" dist="133350" dir="5400000">
              <a:srgbClr val="000000">
                <a:alpha val="3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33260" y="6653213"/>
            <a:ext cx="4372250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اقرأ، جاوب بسرعة… أو نفّذ الحُكم! 🎴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661095" y="9684068"/>
            <a:ext cx="85725" cy="85725"/>
          </a:xfrm>
          <a:prstGeom prst="ellipse">
            <a:avLst/>
          </a:prstGeom>
          <a:solidFill>
            <a:srgbClr val="3FC6C9"/>
          </a:solidFill>
          <a:ln/>
        </p:spPr>
      </p:sp>
      <p:sp>
        <p:nvSpPr>
          <p:cNvPr id="13" name="Text 11"/>
          <p:cNvSpPr/>
          <p:nvPr/>
        </p:nvSpPr>
        <p:spPr>
          <a:xfrm>
            <a:off x="7541181" y="9605010"/>
            <a:ext cx="3115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BF6E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لعبة كروت اجتماعية من مجتمع BookHub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A5E62">
                  <a:alpha val="100000"/>
                </a:srgbClr>
              </a:gs>
              <a:gs pos="55000">
                <a:srgbClr val="134A4E">
                  <a:alpha val="100000"/>
                </a:srgbClr>
              </a:gs>
              <a:gs pos="100000">
                <a:srgbClr val="0C3134">
                  <a:alpha val="100000"/>
                </a:srgbClr>
              </a:gs>
            </a:gsLst>
            <a:path path="circle">
              <a:fillToRect l="85000" t="10000" r="15000" b="9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2221706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5" kern="0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810250" y="2636996"/>
            <a:ext cx="12573000" cy="818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50" b="1" dirty="0">
                <a:solidFill>
                  <a:srgbClr val="F5B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 ليه اللعبة دي أصلاً؟</a:t>
            </a:r>
            <a:endParaRPr lang="en-US" sz="5850" dirty="0"/>
          </a:p>
        </p:txBody>
      </p:sp>
      <p:sp>
        <p:nvSpPr>
          <p:cNvPr id="5" name="Shape 3"/>
          <p:cNvSpPr/>
          <p:nvPr/>
        </p:nvSpPr>
        <p:spPr>
          <a:xfrm>
            <a:off x="12046030" y="3931444"/>
            <a:ext cx="5194221" cy="2880360"/>
          </a:xfrm>
          <a:prstGeom prst="roundRect">
            <a:avLst>
              <a:gd name="adj" fmla="val 8598"/>
            </a:avLst>
          </a:prstGeom>
          <a:solidFill>
            <a:srgbClr val="3FC6C9">
              <a:alpha val="8000"/>
            </a:srgbClr>
          </a:solidFill>
          <a:ln w="7620">
            <a:solidFill>
              <a:srgbClr val="3FC6C9">
                <a:alpha val="2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34649" y="4320064"/>
            <a:ext cx="4858679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2434649" y="5219224"/>
            <a:ext cx="485867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اللمّة محتاجة كسر جمود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434649" y="5737384"/>
            <a:ext cx="454949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BF6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مفيش لعبة بتجمع القُرّاء وأصحابهم في تحدّي سريع وضحك.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46890" y="3931444"/>
            <a:ext cx="5194340" cy="2880360"/>
          </a:xfrm>
          <a:prstGeom prst="roundRect">
            <a:avLst>
              <a:gd name="adj" fmla="val 8598"/>
            </a:avLst>
          </a:prstGeom>
          <a:solidFill>
            <a:srgbClr val="3FC6C9">
              <a:alpha val="8000"/>
            </a:srgbClr>
          </a:solidFill>
          <a:ln w="7620">
            <a:solidFill>
              <a:srgbClr val="3FC6C9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35510" y="4320064"/>
            <a:ext cx="485881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4050" dirty="0"/>
          </a:p>
        </p:txBody>
      </p:sp>
      <p:sp>
        <p:nvSpPr>
          <p:cNvPr id="11" name="Text 9"/>
          <p:cNvSpPr/>
          <p:nvPr/>
        </p:nvSpPr>
        <p:spPr>
          <a:xfrm>
            <a:off x="6935510" y="5219224"/>
            <a:ext cx="485881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معرفتك بالكتب مالهاش مكان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6935510" y="5737384"/>
            <a:ext cx="454961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BF6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اللي قريته السنين دي… يستاهل لحظة يتلمع فيها قدّام صحابك.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3931444"/>
            <a:ext cx="5194340" cy="2880360"/>
          </a:xfrm>
          <a:prstGeom prst="roundRect">
            <a:avLst>
              <a:gd name="adj" fmla="val 8598"/>
            </a:avLst>
          </a:prstGeom>
          <a:solidFill>
            <a:srgbClr val="3FC6C9">
              <a:alpha val="8000"/>
            </a:srgbClr>
          </a:solidFill>
          <a:ln w="7620">
            <a:solidFill>
              <a:srgbClr val="3FC6C9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6370" y="4320064"/>
            <a:ext cx="485881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😴</a:t>
            </a:r>
            <a:endParaRPr lang="en-US" sz="4050" dirty="0"/>
          </a:p>
        </p:txBody>
      </p:sp>
      <p:sp>
        <p:nvSpPr>
          <p:cNvPr id="15" name="Text 13"/>
          <p:cNvSpPr/>
          <p:nvPr/>
        </p:nvSpPr>
        <p:spPr>
          <a:xfrm>
            <a:off x="1436370" y="5219224"/>
            <a:ext cx="485881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نوادي القراءة بتبقى رسمية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436370" y="5737384"/>
            <a:ext cx="454961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BF6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محتاجة طاقة ومرح ومنافسة، مش بس نقاش هادي.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549890" y="7326154"/>
            <a:ext cx="6690360" cy="739140"/>
          </a:xfrm>
          <a:prstGeom prst="roundRect">
            <a:avLst>
              <a:gd name="adj" fmla="val 50000"/>
            </a:avLst>
          </a:prstGeom>
          <a:solidFill>
            <a:srgbClr val="F5B83E"/>
          </a:solidFill>
          <a:ln/>
        </p:spPr>
      </p:sp>
      <p:sp>
        <p:nvSpPr>
          <p:cNvPr id="18" name="Text 16"/>
          <p:cNvSpPr/>
          <p:nvPr/>
        </p:nvSpPr>
        <p:spPr>
          <a:xfrm>
            <a:off x="10892790" y="7478554"/>
            <a:ext cx="6205271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‏Hub Cards بتحلّها كلها: معرفة + ضحك + تحدّي 🔥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A5E62">
                  <a:alpha val="100000"/>
                </a:srgbClr>
              </a:gs>
              <a:gs pos="55000">
                <a:srgbClr val="134A4E">
                  <a:alpha val="100000"/>
                </a:srgbClr>
              </a:gs>
              <a:gs pos="100000">
                <a:srgbClr val="0C3134">
                  <a:alpha val="100000"/>
                </a:srgbClr>
              </a:gs>
            </a:gsLst>
            <a:path path="circle">
              <a:fillToRect l="15000" t="90000" r="85000" b="1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3275529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5" kern="0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إيه هي Hub Cards؟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952750" y="3690819"/>
            <a:ext cx="14716125" cy="1476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80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لعبة كروت بتسحب فيها سؤال عن الكتب، تجاوب بسرعة، </a:t>
            </a:r>
            <a:pPr algn="l" indent="0" marL="0">
              <a:lnSpc>
                <a:spcPct val="118000"/>
              </a:lnSpc>
              <a:buNone/>
            </a:pPr>
            <a:r>
              <a:rPr lang="en-US" sz="4800" b="1" dirty="0">
                <a:solidFill>
                  <a:srgbClr val="F5B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والباقي يحكموا عليك </a:t>
            </a:r>
            <a:pPr algn="l" indent="0" marL="0">
              <a:lnSpc>
                <a:spcPct val="118000"/>
              </a:lnSpc>
              <a:buNone/>
            </a:pPr>
            <a:r>
              <a:rPr lang="en-US" sz="480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ولو سكتّ، يتطبّق عليك حُكم فيروسي خفيف.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4687550" y="5567482"/>
            <a:ext cx="2552700" cy="1443990"/>
          </a:xfrm>
          <a:prstGeom prst="roundRect">
            <a:avLst>
              <a:gd name="adj" fmla="val 14512"/>
            </a:avLst>
          </a:prstGeom>
          <a:solidFill>
            <a:srgbClr val="FBF6EA"/>
          </a:solidFill>
          <a:ln/>
        </p:spPr>
      </p:sp>
      <p:sp>
        <p:nvSpPr>
          <p:cNvPr id="6" name="Text 4"/>
          <p:cNvSpPr/>
          <p:nvPr/>
        </p:nvSpPr>
        <p:spPr>
          <a:xfrm>
            <a:off x="15011400" y="5815132"/>
            <a:ext cx="209550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134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٢–٥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15011400" y="6420921"/>
            <a:ext cx="20955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لاعبين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906250" y="5567482"/>
            <a:ext cx="2552700" cy="1443990"/>
          </a:xfrm>
          <a:prstGeom prst="roundRect">
            <a:avLst>
              <a:gd name="adj" fmla="val 14512"/>
            </a:avLst>
          </a:prstGeom>
          <a:solidFill>
            <a:srgbClr val="FBF6EA"/>
          </a:solidFill>
          <a:ln/>
        </p:spPr>
      </p:sp>
      <p:sp>
        <p:nvSpPr>
          <p:cNvPr id="9" name="Text 7"/>
          <p:cNvSpPr/>
          <p:nvPr/>
        </p:nvSpPr>
        <p:spPr>
          <a:xfrm>
            <a:off x="12230100" y="5815132"/>
            <a:ext cx="2095500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134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12230100" y="6420921"/>
            <a:ext cx="20955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جولات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24950" y="5567482"/>
            <a:ext cx="2552700" cy="1443990"/>
          </a:xfrm>
          <a:prstGeom prst="roundRect">
            <a:avLst>
              <a:gd name="adj" fmla="val 14512"/>
            </a:avLst>
          </a:prstGeom>
          <a:solidFill>
            <a:srgbClr val="FBF6EA"/>
          </a:solidFill>
          <a:ln/>
        </p:spPr>
      </p:sp>
      <p:sp>
        <p:nvSpPr>
          <p:cNvPr id="12" name="Text 10"/>
          <p:cNvSpPr/>
          <p:nvPr/>
        </p:nvSpPr>
        <p:spPr>
          <a:xfrm>
            <a:off x="9448800" y="5815132"/>
            <a:ext cx="209550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134A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١</a:t>
            </a:r>
            <a:endParaRPr lang="en-US" sz="3750" dirty="0"/>
          </a:p>
        </p:txBody>
      </p:sp>
      <p:sp>
        <p:nvSpPr>
          <p:cNvPr id="13" name="Text 11"/>
          <p:cNvSpPr/>
          <p:nvPr/>
        </p:nvSpPr>
        <p:spPr>
          <a:xfrm>
            <a:off x="9448800" y="6504742"/>
            <a:ext cx="20955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تليفون يتسلّم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43650" y="5567482"/>
            <a:ext cx="2552700" cy="1443990"/>
          </a:xfrm>
          <a:prstGeom prst="roundRect">
            <a:avLst>
              <a:gd name="adj" fmla="val 14512"/>
            </a:avLst>
          </a:prstGeom>
          <a:solidFill>
            <a:srgbClr val="3FC6C9"/>
          </a:solidFill>
          <a:ln/>
        </p:spPr>
      </p:sp>
      <p:sp>
        <p:nvSpPr>
          <p:cNvPr id="15" name="Text 13"/>
          <p:cNvSpPr/>
          <p:nvPr/>
        </p:nvSpPr>
        <p:spPr>
          <a:xfrm>
            <a:off x="6667500" y="5815132"/>
            <a:ext cx="2095500" cy="67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♾️</a:t>
            </a:r>
            <a:endParaRPr lang="en-US" sz="3750" dirty="0"/>
          </a:p>
        </p:txBody>
      </p:sp>
      <p:sp>
        <p:nvSpPr>
          <p:cNvPr id="16" name="Text 14"/>
          <p:cNvSpPr/>
          <p:nvPr/>
        </p:nvSpPr>
        <p:spPr>
          <a:xfrm>
            <a:off x="6667500" y="6504742"/>
            <a:ext cx="20955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إجابات لا نهائية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A5E62">
                  <a:alpha val="100000"/>
                </a:srgbClr>
              </a:gs>
              <a:gs pos="58000">
                <a:srgbClr val="134A4E">
                  <a:alpha val="100000"/>
                </a:srgbClr>
              </a:gs>
              <a:gs pos="100000">
                <a:srgbClr val="0C3134">
                  <a:alpha val="100000"/>
                </a:srgbClr>
              </a:gs>
            </a:gsLst>
            <a:path path="circle">
              <a:fillToRect l="80000" t="50000" r="2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4667250" y="2760821"/>
            <a:ext cx="1393507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5" kern="0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طريقة اللعب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667250" y="3138011"/>
            <a:ext cx="139350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5B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خطوات وبس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6725900" y="4147661"/>
            <a:ext cx="609600" cy="609600"/>
          </a:xfrm>
          <a:prstGeom prst="ellipse">
            <a:avLst/>
          </a:prstGeom>
          <a:solidFill>
            <a:srgbClr val="F5B83E"/>
          </a:solidFill>
          <a:ln/>
        </p:spPr>
      </p:sp>
      <p:sp>
        <p:nvSpPr>
          <p:cNvPr id="6" name="Text 4"/>
          <p:cNvSpPr/>
          <p:nvPr/>
        </p:nvSpPr>
        <p:spPr>
          <a:xfrm>
            <a:off x="16687800" y="4147661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4407515" y="4269581"/>
            <a:ext cx="229876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اسحب كارت السؤال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6725900" y="4947761"/>
            <a:ext cx="609600" cy="609600"/>
          </a:xfrm>
          <a:prstGeom prst="ellipse">
            <a:avLst/>
          </a:prstGeom>
          <a:solidFill>
            <a:srgbClr val="F5B83E"/>
          </a:solidFill>
          <a:ln/>
        </p:spPr>
      </p:sp>
      <p:sp>
        <p:nvSpPr>
          <p:cNvPr id="9" name="Text 7"/>
          <p:cNvSpPr/>
          <p:nvPr/>
        </p:nvSpPr>
        <p:spPr>
          <a:xfrm>
            <a:off x="16687800" y="4947761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081760" y="5069681"/>
            <a:ext cx="265709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عندك </a:t>
            </a:r>
            <a:pPr algn="l" indent="0" marL="0">
              <a:buNone/>
            </a:pPr>
            <a:r>
              <a:rPr lang="en-US" sz="2550" b="1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 ثواني </a:t>
            </a:r>
            <a:pPr algn="l" indent="0" marL="0">
              <a:buNone/>
            </a:pPr>
            <a:r>
              <a:rPr lang="en-US" sz="255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تجاوب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6725900" y="5747861"/>
            <a:ext cx="609600" cy="609600"/>
          </a:xfrm>
          <a:prstGeom prst="ellipse">
            <a:avLst/>
          </a:prstGeom>
          <a:solidFill>
            <a:srgbClr val="F5B83E"/>
          </a:solidFill>
          <a:ln/>
        </p:spPr>
      </p:sp>
      <p:sp>
        <p:nvSpPr>
          <p:cNvPr id="12" name="Text 10"/>
          <p:cNvSpPr/>
          <p:nvPr/>
        </p:nvSpPr>
        <p:spPr>
          <a:xfrm>
            <a:off x="16687800" y="5747861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3583722" y="5869781"/>
            <a:ext cx="320493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الباقي يحكموا: صح ولا غلط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4667250" y="6681311"/>
            <a:ext cx="12668250" cy="844868"/>
          </a:xfrm>
          <a:prstGeom prst="roundRect">
            <a:avLst>
              <a:gd name="adj" fmla="val 22548"/>
            </a:avLst>
          </a:prstGeom>
          <a:solidFill>
            <a:srgbClr val="3FC6C9">
              <a:alpha val="10000"/>
            </a:srgbClr>
          </a:solidFill>
          <a:ln w="7620">
            <a:solidFill>
              <a:srgbClr val="3FC6C9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0620" y="6917531"/>
            <a:ext cx="12461557" cy="410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725" b="1" dirty="0">
                <a:solidFill>
                  <a:srgbClr val="FBF6EA">
                    <a:alpha val="90000"/>
                  </a:srgbClr>
                </a:solidFill>
                <a:highlight>
                  <a:srgbClr val="ECF9F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صح = </a:t>
            </a:r>
            <a:pPr algn="l" indent="0" marL="0">
              <a:lnSpc>
                <a:spcPct val="170000"/>
              </a:lnSpc>
              <a:buNone/>
            </a:pPr>
            <a:r>
              <a:rPr lang="en-US" sz="1725" b="1" dirty="0">
                <a:solidFill>
                  <a:srgbClr val="F5B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</a:t>
            </a:r>
            <a:pPr algn="l" indent="0" marL="0">
              <a:lnSpc>
                <a:spcPct val="170000"/>
              </a:lnSpc>
              <a:buNone/>
            </a:pPr>
            <a:r>
              <a:rPr lang="en-US" sz="1725" b="1" dirty="0">
                <a:solidFill>
                  <a:srgbClr val="FBF6EA">
                    <a:alpha val="90000"/>
                  </a:srgbClr>
                </a:solidFill>
                <a:highlight>
                  <a:srgbClr val="ECF9F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· ٣ صح ورا بعض = </a:t>
            </a:r>
            <a:pPr algn="l" indent="0" marL="0">
              <a:lnSpc>
                <a:spcPct val="170000"/>
              </a:lnSpc>
              <a:buNone/>
            </a:pPr>
            <a:r>
              <a:rPr lang="en-US" sz="1725" b="1" dirty="0">
                <a:solidFill>
                  <a:srgbClr val="F5B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كارت خاص </a:t>
            </a:r>
            <a:pPr algn="l" indent="0" marL="0">
              <a:lnSpc>
                <a:spcPct val="170000"/>
              </a:lnSpc>
              <a:buNone/>
            </a:pPr>
            <a:r>
              <a:rPr lang="en-US" sz="1725" b="1" dirty="0">
                <a:solidFill>
                  <a:srgbClr val="FBF6EA">
                    <a:alpha val="90000"/>
                  </a:srgbClr>
                </a:solidFill>
                <a:highlight>
                  <a:srgbClr val="ECF9F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· آخر جولة </a:t>
            </a:r>
            <a:pPr algn="l" indent="0" marL="0">
              <a:lnSpc>
                <a:spcPct val="170000"/>
              </a:lnSpc>
              <a:buNone/>
            </a:pPr>
            <a:r>
              <a:rPr lang="en-US" sz="1725" b="1" dirty="0">
                <a:solidFill>
                  <a:srgbClr val="F5B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Double-or-Nothing </a:t>
            </a:r>
            <a:pPr algn="l" indent="0" marL="0">
              <a:lnSpc>
                <a:spcPct val="170000"/>
              </a:lnSpc>
              <a:buNone/>
            </a:pPr>
            <a:r>
              <a:rPr lang="en-US" sz="1725" b="1" dirty="0">
                <a:solidFill>
                  <a:srgbClr val="FBF6EA">
                    <a:alpha val="90000"/>
                  </a:srgbClr>
                </a:solidFill>
                <a:highlight>
                  <a:srgbClr val="ECF9F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(+٢ / −٢)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952500" y="2000250"/>
            <a:ext cx="3048000" cy="6286500"/>
          </a:xfrm>
          <a:prstGeom prst="roundRect">
            <a:avLst>
              <a:gd name="adj" fmla="val 14375"/>
            </a:avLst>
          </a:prstGeom>
          <a:solidFill>
            <a:srgbClr val="08272A"/>
          </a:solidFill>
          <a:ln/>
          <a:effectLst>
            <a:outerShdw sx="100000" sy="100000" kx="0" ky="0" algn="bl" rotWithShape="0" blurRad="762000" dist="381000" dir="54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38350" y="2209800"/>
            <a:ext cx="876300" cy="190500"/>
          </a:xfrm>
          <a:prstGeom prst="rect">
            <a:avLst/>
          </a:prstGeom>
          <a:solidFill>
            <a:srgbClr val="082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7275" y="2105025"/>
            <a:ext cx="2838450" cy="6076950"/>
          </a:xfrm>
          <a:prstGeom prst="roundRect">
            <a:avLst>
              <a:gd name="adj" fmla="val 12081"/>
            </a:avLst>
          </a:prstGeom>
          <a:solidFill>
            <a:srgbClr val="FBF6EA"/>
          </a:solidFill>
          <a:ln/>
        </p:spPr>
      </p:sp>
      <p:sp>
        <p:nvSpPr>
          <p:cNvPr id="19" name="Shape 17"/>
          <p:cNvSpPr/>
          <p:nvPr/>
        </p:nvSpPr>
        <p:spPr>
          <a:xfrm>
            <a:off x="2598777" y="2428875"/>
            <a:ext cx="1087398" cy="361950"/>
          </a:xfrm>
          <a:prstGeom prst="roundRect">
            <a:avLst>
              <a:gd name="adj" fmla="val 50000"/>
            </a:avLst>
          </a:prstGeom>
          <a:solidFill>
            <a:srgbClr val="134A4E"/>
          </a:solidFill>
          <a:ln/>
        </p:spPr>
      </p:sp>
      <p:sp>
        <p:nvSpPr>
          <p:cNvPr id="20" name="Text 18"/>
          <p:cNvSpPr/>
          <p:nvPr/>
        </p:nvSpPr>
        <p:spPr>
          <a:xfrm>
            <a:off x="2732127" y="2495550"/>
            <a:ext cx="8968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سلمى · ٥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266825" y="2457450"/>
            <a:ext cx="65174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🛡️🔥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266825" y="2962275"/>
            <a:ext cx="2419350" cy="2857500"/>
          </a:xfrm>
          <a:prstGeom prst="roundRect">
            <a:avLst>
              <a:gd name="adj" fmla="val 8661"/>
            </a:avLst>
          </a:prstGeom>
          <a:solidFill>
            <a:srgbClr val="134A4E"/>
          </a:solidFill>
          <a:ln/>
        </p:spPr>
      </p:sp>
      <p:sp>
        <p:nvSpPr>
          <p:cNvPr id="23" name="Text 21"/>
          <p:cNvSpPr/>
          <p:nvPr/>
        </p:nvSpPr>
        <p:spPr>
          <a:xfrm>
            <a:off x="1906905" y="3842385"/>
            <a:ext cx="113919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سؤال · جولة ٤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419225" y="4196715"/>
            <a:ext cx="21145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كتاب فيه اسم مدينة 🏙️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1889220" y="6004020"/>
            <a:ext cx="1174561" cy="1174561"/>
          </a:xfrm>
          <a:prstGeom prst="ellipse">
            <a:avLst/>
          </a:prstGeom>
          <a:solidFill>
            <a:srgbClr val="E23D3D"/>
          </a:solidFill>
          <a:ln/>
          <a:effectLst>
            <a:outerShdw sx="100000" sy="100000" kx="0" ky="0" algn="bl" rotWithShape="0" blurRad="101600" dist="50800" dir="16200000">
              <a:srgbClr val="E23D3D">
                <a:alpha val="55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8621" y="6133420"/>
            <a:ext cx="915759" cy="915759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27" name="Text 25"/>
          <p:cNvSpPr/>
          <p:nvPr/>
        </p:nvSpPr>
        <p:spPr>
          <a:xfrm>
            <a:off x="1980521" y="6133420"/>
            <a:ext cx="991959" cy="9538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E2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٠٣</a:t>
            </a:r>
            <a:endParaRPr lang="en-US" sz="3450" dirty="0"/>
          </a:p>
        </p:txBody>
      </p:sp>
      <p:sp>
        <p:nvSpPr>
          <p:cNvPr id="28" name="Shape 26"/>
          <p:cNvSpPr/>
          <p:nvPr/>
        </p:nvSpPr>
        <p:spPr>
          <a:xfrm>
            <a:off x="2533650" y="7362825"/>
            <a:ext cx="1152525" cy="609600"/>
          </a:xfrm>
          <a:prstGeom prst="roundRect">
            <a:avLst>
              <a:gd name="adj" fmla="val 25000"/>
            </a:avLst>
          </a:prstGeom>
          <a:solidFill>
            <a:srgbClr val="1F9D57"/>
          </a:solidFill>
          <a:ln/>
        </p:spPr>
      </p:sp>
      <p:sp>
        <p:nvSpPr>
          <p:cNvPr id="29" name="Text 27"/>
          <p:cNvSpPr/>
          <p:nvPr/>
        </p:nvSpPr>
        <p:spPr>
          <a:xfrm>
            <a:off x="2495550" y="7515225"/>
            <a:ext cx="12287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صح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66825" y="7362825"/>
            <a:ext cx="1152525" cy="609600"/>
          </a:xfrm>
          <a:prstGeom prst="roundRect">
            <a:avLst>
              <a:gd name="adj" fmla="val 25000"/>
            </a:avLst>
          </a:prstGeom>
          <a:solidFill>
            <a:srgbClr val="E23D3D"/>
          </a:solidFill>
          <a:ln/>
        </p:spPr>
      </p:sp>
      <p:sp>
        <p:nvSpPr>
          <p:cNvPr id="31" name="Text 29"/>
          <p:cNvSpPr/>
          <p:nvPr/>
        </p:nvSpPr>
        <p:spPr>
          <a:xfrm>
            <a:off x="1228725" y="7515225"/>
            <a:ext cx="12287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غلط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A5E62">
                  <a:alpha val="100000"/>
                </a:srgbClr>
              </a:gs>
              <a:gs pos="55000">
                <a:srgbClr val="134A4E">
                  <a:alpha val="100000"/>
                </a:srgbClr>
              </a:gs>
              <a:gs pos="100000">
                <a:srgbClr val="0C3134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857250" y="3182303"/>
            <a:ext cx="182308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5" kern="0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الكروت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57250" y="3559493"/>
            <a:ext cx="1823085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b="1" dirty="0">
                <a:solidFill>
                  <a:srgbClr val="F5B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 كروت بتقلب اللعبة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13922098" y="4645343"/>
            <a:ext cx="3508653" cy="2459355"/>
          </a:xfrm>
          <a:prstGeom prst="roundRect">
            <a:avLst>
              <a:gd name="adj" fmla="val 9295"/>
            </a:avLst>
          </a:prstGeom>
          <a:solidFill>
            <a:srgbClr val="FBF6EA"/>
          </a:solidFill>
          <a:ln/>
        </p:spPr>
      </p:sp>
      <p:sp>
        <p:nvSpPr>
          <p:cNvPr id="6" name="Shape 4"/>
          <p:cNvSpPr/>
          <p:nvPr/>
        </p:nvSpPr>
        <p:spPr>
          <a:xfrm>
            <a:off x="13922098" y="4645343"/>
            <a:ext cx="3508653" cy="91440"/>
          </a:xfrm>
          <a:prstGeom prst="rect">
            <a:avLst/>
          </a:prstGeom>
          <a:solidFill>
            <a:srgbClr val="134A4E"/>
          </a:solidFill>
          <a:ln/>
        </p:spPr>
      </p:sp>
      <p:sp>
        <p:nvSpPr>
          <p:cNvPr id="7" name="Text 5"/>
          <p:cNvSpPr/>
          <p:nvPr/>
        </p:nvSpPr>
        <p:spPr>
          <a:xfrm>
            <a:off x="14169748" y="5022532"/>
            <a:ext cx="3314688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4169748" y="5776913"/>
            <a:ext cx="33146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سؤال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169748" y="6218873"/>
            <a:ext cx="310375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A5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«رواية اتحوّلت لفيلم»، «كتاب فيه اسم مدينة»… ٥٠ سؤال.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0203776" y="4645343"/>
            <a:ext cx="3508772" cy="2459355"/>
          </a:xfrm>
          <a:prstGeom prst="roundRect">
            <a:avLst>
              <a:gd name="adj" fmla="val 9295"/>
            </a:avLst>
          </a:prstGeom>
          <a:solidFill>
            <a:srgbClr val="FBF6EA"/>
          </a:solidFill>
          <a:ln/>
        </p:spPr>
      </p:sp>
      <p:sp>
        <p:nvSpPr>
          <p:cNvPr id="11" name="Shape 9"/>
          <p:cNvSpPr/>
          <p:nvPr/>
        </p:nvSpPr>
        <p:spPr>
          <a:xfrm>
            <a:off x="10203776" y="4645343"/>
            <a:ext cx="3508772" cy="91440"/>
          </a:xfrm>
          <a:prstGeom prst="rect">
            <a:avLst/>
          </a:prstGeom>
          <a:solidFill>
            <a:srgbClr val="E23D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451426" y="5022532"/>
            <a:ext cx="3314819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0451426" y="5776913"/>
            <a:ext cx="331481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حُكم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451426" y="6218873"/>
            <a:ext cx="310387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A5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 ماجاوبتش: مهمة فيروسية خفيفة — «نزّل ستوري بكره». ٥٠ حُكم.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7088267" y="4645343"/>
            <a:ext cx="2905958" cy="2459355"/>
          </a:xfrm>
          <a:prstGeom prst="roundRect">
            <a:avLst>
              <a:gd name="adj" fmla="val 9295"/>
            </a:avLst>
          </a:prstGeom>
          <a:solidFill>
            <a:srgbClr val="FBF6EA"/>
          </a:solidFill>
          <a:ln/>
        </p:spPr>
      </p:sp>
      <p:sp>
        <p:nvSpPr>
          <p:cNvPr id="16" name="Shape 14"/>
          <p:cNvSpPr/>
          <p:nvPr/>
        </p:nvSpPr>
        <p:spPr>
          <a:xfrm>
            <a:off x="7088267" y="4645343"/>
            <a:ext cx="2905958" cy="91440"/>
          </a:xfrm>
          <a:prstGeom prst="rect">
            <a:avLst/>
          </a:prstGeom>
          <a:solidFill>
            <a:srgbClr val="3FC6C9"/>
          </a:solidFill>
          <a:ln/>
        </p:spPr>
      </p:sp>
      <p:sp>
        <p:nvSpPr>
          <p:cNvPr id="17" name="Text 15"/>
          <p:cNvSpPr/>
          <p:nvPr/>
        </p:nvSpPr>
        <p:spPr>
          <a:xfrm>
            <a:off x="7335917" y="5022532"/>
            <a:ext cx="2651724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7335917" y="5776913"/>
            <a:ext cx="265172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حصانة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335917" y="6218873"/>
            <a:ext cx="265172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A5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تلغي الحُكم عنك.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3972758" y="4645343"/>
            <a:ext cx="2905958" cy="2459355"/>
          </a:xfrm>
          <a:prstGeom prst="roundRect">
            <a:avLst>
              <a:gd name="adj" fmla="val 9295"/>
            </a:avLst>
          </a:prstGeom>
          <a:solidFill>
            <a:srgbClr val="FBF6EA"/>
          </a:solidFill>
          <a:ln/>
        </p:spPr>
      </p:sp>
      <p:sp>
        <p:nvSpPr>
          <p:cNvPr id="21" name="Shape 19"/>
          <p:cNvSpPr/>
          <p:nvPr/>
        </p:nvSpPr>
        <p:spPr>
          <a:xfrm>
            <a:off x="3972758" y="4645343"/>
            <a:ext cx="2905958" cy="91440"/>
          </a:xfrm>
          <a:prstGeom prst="rect">
            <a:avLst/>
          </a:prstGeom>
          <a:solidFill>
            <a:srgbClr val="F5B83E"/>
          </a:solidFill>
          <a:ln/>
        </p:spPr>
      </p:sp>
      <p:sp>
        <p:nvSpPr>
          <p:cNvPr id="22" name="Text 20"/>
          <p:cNvSpPr/>
          <p:nvPr/>
        </p:nvSpPr>
        <p:spPr>
          <a:xfrm>
            <a:off x="4220408" y="5022532"/>
            <a:ext cx="2651724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3450" dirty="0"/>
          </a:p>
        </p:txBody>
      </p:sp>
      <p:sp>
        <p:nvSpPr>
          <p:cNvPr id="23" name="Text 21"/>
          <p:cNvSpPr/>
          <p:nvPr/>
        </p:nvSpPr>
        <p:spPr>
          <a:xfrm>
            <a:off x="4220408" y="5776913"/>
            <a:ext cx="265172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ضعف النقط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4220408" y="6218873"/>
            <a:ext cx="265172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A5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نقطتك الجاية × ٢.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857250" y="4645343"/>
            <a:ext cx="2905958" cy="2459355"/>
          </a:xfrm>
          <a:prstGeom prst="roundRect">
            <a:avLst>
              <a:gd name="adj" fmla="val 9295"/>
            </a:avLst>
          </a:prstGeom>
          <a:solidFill>
            <a:srgbClr val="FBF6EA"/>
          </a:solidFill>
          <a:ln/>
        </p:spPr>
      </p:sp>
      <p:sp>
        <p:nvSpPr>
          <p:cNvPr id="26" name="Shape 24"/>
          <p:cNvSpPr/>
          <p:nvPr/>
        </p:nvSpPr>
        <p:spPr>
          <a:xfrm>
            <a:off x="857250" y="4645343"/>
            <a:ext cx="2905958" cy="91440"/>
          </a:xfrm>
          <a:prstGeom prst="rect">
            <a:avLst/>
          </a:prstGeom>
          <a:solidFill>
            <a:srgbClr val="8A5CD1"/>
          </a:solidFill>
          <a:ln/>
        </p:spPr>
      </p:sp>
      <p:sp>
        <p:nvSpPr>
          <p:cNvPr id="27" name="Text 25"/>
          <p:cNvSpPr/>
          <p:nvPr/>
        </p:nvSpPr>
        <p:spPr>
          <a:xfrm>
            <a:off x="1104900" y="5022532"/>
            <a:ext cx="2651724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3450" dirty="0"/>
          </a:p>
        </p:txBody>
      </p:sp>
      <p:sp>
        <p:nvSpPr>
          <p:cNvPr id="28" name="Text 26"/>
          <p:cNvSpPr/>
          <p:nvPr/>
        </p:nvSpPr>
        <p:spPr>
          <a:xfrm>
            <a:off x="1104900" y="5776913"/>
            <a:ext cx="265172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اقلب الحُكم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104900" y="6218873"/>
            <a:ext cx="265172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3A51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تحوّل الحُكم للاعب تاني.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A5E62">
                  <a:alpha val="100000"/>
                </a:srgbClr>
              </a:gs>
              <a:gs pos="58000">
                <a:srgbClr val="134A4E">
                  <a:alpha val="100000"/>
                </a:srgbClr>
              </a:gs>
              <a:gs pos="100000">
                <a:srgbClr val="0C3134">
                  <a:alpha val="100000"/>
                </a:srgbClr>
              </a:gs>
            </a:gsLst>
            <a:path path="circle">
              <a:fillToRect l="90000" t="90000" r="10000" b="1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4750058" y="514350"/>
            <a:ext cx="326308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الهوية البصرية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4750058" y="815340"/>
            <a:ext cx="326308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5B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دافئ · مكتبي · مرح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074914" y="541020"/>
            <a:ext cx="529590" cy="529590"/>
          </a:xfrm>
          <a:prstGeom prst="roundRect">
            <a:avLst>
              <a:gd name="adj" fmla="val 21583"/>
            </a:avLst>
          </a:prstGeom>
          <a:solidFill>
            <a:srgbClr val="134A4E"/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01465" y="1127760"/>
            <a:ext cx="55280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BF6EA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#134a4e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3465314" y="54102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3FC6C9"/>
          </a:solidFill>
          <a:ln/>
        </p:spPr>
      </p:sp>
      <p:sp>
        <p:nvSpPr>
          <p:cNvPr id="8" name="Text 6"/>
          <p:cNvSpPr/>
          <p:nvPr/>
        </p:nvSpPr>
        <p:spPr>
          <a:xfrm>
            <a:off x="3484245" y="1112520"/>
            <a:ext cx="55280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BF6EA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#3fc6c9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2855714" y="54102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5B83E"/>
          </a:solidFill>
          <a:ln/>
        </p:spPr>
      </p:sp>
      <p:sp>
        <p:nvSpPr>
          <p:cNvPr id="10" name="Text 8"/>
          <p:cNvSpPr/>
          <p:nvPr/>
        </p:nvSpPr>
        <p:spPr>
          <a:xfrm>
            <a:off x="2874645" y="1112520"/>
            <a:ext cx="55280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BF6EA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#f5b83e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2246114" y="54102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BF6EA"/>
          </a:solidFill>
          <a:ln/>
        </p:spPr>
      </p:sp>
      <p:sp>
        <p:nvSpPr>
          <p:cNvPr id="12" name="Text 10"/>
          <p:cNvSpPr/>
          <p:nvPr/>
        </p:nvSpPr>
        <p:spPr>
          <a:xfrm>
            <a:off x="2265045" y="1112520"/>
            <a:ext cx="552807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BF6EA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#fbf6ea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2067044" y="617220"/>
            <a:ext cx="9525" cy="57912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15459" y="617220"/>
            <a:ext cx="1156335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Tajawal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71500" y="982980"/>
            <a:ext cx="145650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BF6EA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عربي عريض · RTL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458825" y="1501140"/>
            <a:ext cx="1943100" cy="4095750"/>
          </a:xfrm>
          <a:prstGeom prst="roundRect">
            <a:avLst>
              <a:gd name="adj" fmla="val 14706"/>
            </a:avLst>
          </a:prstGeom>
          <a:solidFill>
            <a:srgbClr val="08272A"/>
          </a:solidFill>
          <a:ln/>
          <a:effectLst>
            <a:outerShdw sx="100000" sy="100000" kx="0" ky="0" algn="bl" rotWithShape="0" blurRad="419100" dist="209550" dir="54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525500" y="1567815"/>
            <a:ext cx="1809750" cy="3962400"/>
          </a:xfrm>
          <a:prstGeom prst="roundRect">
            <a:avLst>
              <a:gd name="adj" fmla="val 12632"/>
            </a:avLst>
          </a:prstGeom>
          <a:gradFill rotWithShape="1">
            <a:gsLst>
              <a:gs pos="0">
                <a:srgbClr val="1A5E62">
                  <a:alpha val="100000"/>
                </a:srgbClr>
              </a:gs>
              <a:gs pos="100000">
                <a:srgbClr val="0C3134">
                  <a:alpha val="100000"/>
                </a:srgbClr>
              </a:gs>
            </a:gsLst>
            <a:path path="circle">
              <a:fillToRect l="50000" t="25000" r="50000" b="75000"/>
            </a:path>
          </a:gradFill>
          <a:ln/>
        </p:spPr>
      </p:sp>
      <p:sp>
        <p:nvSpPr>
          <p:cNvPr id="18" name="Shape 16"/>
          <p:cNvSpPr/>
          <p:nvPr/>
        </p:nvSpPr>
        <p:spPr>
          <a:xfrm>
            <a:off x="14097000" y="2600325"/>
            <a:ext cx="400050" cy="400050"/>
          </a:xfrm>
          <a:prstGeom prst="ellipse">
            <a:avLst/>
          </a:prstGeom>
          <a:ln w="53340">
            <a:solidFill>
              <a:srgbClr val="F5B8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363700" y="2600325"/>
            <a:ext cx="400050" cy="400050"/>
          </a:xfrm>
          <a:prstGeom prst="ellipse">
            <a:avLst/>
          </a:prstGeom>
          <a:ln w="53340">
            <a:solidFill>
              <a:srgbClr val="3FC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901619" y="3133725"/>
            <a:ext cx="105751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spc="75" kern="0" dirty="0">
                <a:solidFill>
                  <a:srgbClr val="F5B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CARDS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714631" y="3800475"/>
            <a:ext cx="143148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F6EA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اقرأ، جاوب بسرعة… أو نفّذ الحُكم!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852684" y="4120515"/>
            <a:ext cx="1155502" cy="415290"/>
          </a:xfrm>
          <a:prstGeom prst="roundRect">
            <a:avLst>
              <a:gd name="adj" fmla="val 50000"/>
            </a:avLst>
          </a:prstGeom>
          <a:solidFill>
            <a:srgbClr val="F5B83E"/>
          </a:solidFill>
          <a:ln/>
        </p:spPr>
      </p:sp>
      <p:sp>
        <p:nvSpPr>
          <p:cNvPr id="23" name="Text 21"/>
          <p:cNvSpPr/>
          <p:nvPr/>
        </p:nvSpPr>
        <p:spPr>
          <a:xfrm>
            <a:off x="14100334" y="4225290"/>
            <a:ext cx="73640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يلا نلعب 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209039" y="5711190"/>
            <a:ext cx="518874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١. البداية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344275" y="1501140"/>
            <a:ext cx="1943100" cy="4095750"/>
          </a:xfrm>
          <a:prstGeom prst="roundRect">
            <a:avLst>
              <a:gd name="adj" fmla="val 14706"/>
            </a:avLst>
          </a:prstGeom>
          <a:solidFill>
            <a:srgbClr val="08272A"/>
          </a:solidFill>
          <a:ln/>
          <a:effectLst>
            <a:outerShdw sx="100000" sy="100000" kx="0" ky="0" algn="bl" rotWithShape="0" blurRad="419100" dist="209550" dir="54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1410950" y="1567815"/>
            <a:ext cx="1809750" cy="3962400"/>
          </a:xfrm>
          <a:prstGeom prst="roundRect">
            <a:avLst>
              <a:gd name="adj" fmla="val 12632"/>
            </a:avLst>
          </a:prstGeom>
          <a:solidFill>
            <a:srgbClr val="FBF6EA"/>
          </a:solidFill>
          <a:ln/>
        </p:spPr>
      </p:sp>
      <p:sp>
        <p:nvSpPr>
          <p:cNvPr id="27" name="Text 25"/>
          <p:cNvSpPr/>
          <p:nvPr/>
        </p:nvSpPr>
        <p:spPr>
          <a:xfrm>
            <a:off x="11563350" y="1758315"/>
            <a:ext cx="1655445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مين اللاعبين؟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1563350" y="2112645"/>
            <a:ext cx="1504950" cy="491490"/>
          </a:xfrm>
          <a:prstGeom prst="roundRect">
            <a:avLst>
              <a:gd name="adj" fmla="val 25194"/>
            </a:avLst>
          </a:prstGeom>
          <a:solidFill>
            <a:srgbClr val="FFFFFF"/>
          </a:solidFill>
          <a:ln w="7620">
            <a:solidFill>
              <a:srgbClr val="E7DC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658606" y="2205990"/>
            <a:ext cx="3639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301181" y="2270760"/>
            <a:ext cx="33837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سلمى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1563350" y="2689860"/>
            <a:ext cx="1504950" cy="491490"/>
          </a:xfrm>
          <a:prstGeom prst="roundRect">
            <a:avLst>
              <a:gd name="adj" fmla="val 25194"/>
            </a:avLst>
          </a:prstGeom>
          <a:solidFill>
            <a:srgbClr val="FFFFFF"/>
          </a:solidFill>
          <a:ln w="7620">
            <a:solidFill>
              <a:srgbClr val="E7DC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658606" y="2783205"/>
            <a:ext cx="3639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🦉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2339519" y="2847975"/>
            <a:ext cx="30003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أحمد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1563350" y="3267075"/>
            <a:ext cx="1504950" cy="491490"/>
          </a:xfrm>
          <a:prstGeom prst="roundRect">
            <a:avLst>
              <a:gd name="adj" fmla="val 25194"/>
            </a:avLst>
          </a:prstGeom>
          <a:solidFill>
            <a:srgbClr val="FFFFFF"/>
          </a:solidFill>
          <a:ln w="7620">
            <a:solidFill>
              <a:srgbClr val="E7DC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58606" y="3360420"/>
            <a:ext cx="3639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2396074" y="3425190"/>
            <a:ext cx="24348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مايا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563350" y="3844290"/>
            <a:ext cx="1504950" cy="392430"/>
          </a:xfrm>
          <a:prstGeom prst="roundRect">
            <a:avLst>
              <a:gd name="adj" fmla="val 31553"/>
            </a:avLst>
          </a:prstGeom>
          <a:ln w="15240">
            <a:solidFill>
              <a:srgbClr val="C9B78F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1654790" y="3945255"/>
            <a:ext cx="13220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9A8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＋ زوّد لاعب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11563350" y="4924425"/>
            <a:ext cx="1504950" cy="415290"/>
          </a:xfrm>
          <a:prstGeom prst="roundRect">
            <a:avLst>
              <a:gd name="adj" fmla="val 29817"/>
            </a:avLst>
          </a:prstGeom>
          <a:solidFill>
            <a:srgbClr val="F5B83E"/>
          </a:solidFill>
          <a:ln/>
        </p:spPr>
      </p:sp>
      <p:sp>
        <p:nvSpPr>
          <p:cNvPr id="40" name="Text 38"/>
          <p:cNvSpPr/>
          <p:nvPr/>
        </p:nvSpPr>
        <p:spPr>
          <a:xfrm>
            <a:off x="11525250" y="5029200"/>
            <a:ext cx="158115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يلا نبدأ 🎴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068890" y="5711190"/>
            <a:ext cx="57019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٢. الإعداد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229725" y="1501140"/>
            <a:ext cx="1943100" cy="4095750"/>
          </a:xfrm>
          <a:prstGeom prst="roundRect">
            <a:avLst>
              <a:gd name="adj" fmla="val 14706"/>
            </a:avLst>
          </a:prstGeom>
          <a:solidFill>
            <a:srgbClr val="08272A"/>
          </a:solidFill>
          <a:ln/>
          <a:effectLst>
            <a:outerShdw sx="100000" sy="100000" kx="0" ky="0" algn="bl" rotWithShape="0" blurRad="419100" dist="209550" dir="5400000">
              <a:srgbClr val="00000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296400" y="1567815"/>
            <a:ext cx="1809750" cy="3962400"/>
          </a:xfrm>
          <a:prstGeom prst="roundRect">
            <a:avLst>
              <a:gd name="adj" fmla="val 12632"/>
            </a:avLst>
          </a:prstGeom>
          <a:gradFill rotWithShape="1">
            <a:gsLst>
              <a:gs pos="0">
                <a:srgbClr val="1A5E62">
                  <a:alpha val="100000"/>
                </a:srgbClr>
              </a:gs>
              <a:gs pos="100000">
                <a:srgbClr val="0C3134">
                  <a:alpha val="100000"/>
                </a:srgbClr>
              </a:gs>
            </a:gsLst>
            <a:path path="circle">
              <a:fillToRect l="50000" t="30000" r="50000" b="70000"/>
            </a:path>
          </a:gradFill>
          <a:ln/>
        </p:spPr>
      </p:sp>
      <p:sp>
        <p:nvSpPr>
          <p:cNvPr id="44" name="Text 42"/>
          <p:cNvSpPr/>
          <p:nvPr/>
        </p:nvSpPr>
        <p:spPr>
          <a:xfrm>
            <a:off x="9939694" y="2141220"/>
            <a:ext cx="599361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9888736" y="2830830"/>
            <a:ext cx="701397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BF6E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سلّم التليفون لـ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9829800" y="3131820"/>
            <a:ext cx="742950" cy="742950"/>
          </a:xfrm>
          <a:prstGeom prst="ellipse">
            <a:avLst/>
          </a:prstGeom>
          <a:solidFill>
            <a:srgbClr val="F5B83E"/>
          </a:solidFill>
          <a:ln/>
        </p:spPr>
      </p:sp>
      <p:sp>
        <p:nvSpPr>
          <p:cNvPr id="47" name="Text 45"/>
          <p:cNvSpPr/>
          <p:nvPr/>
        </p:nvSpPr>
        <p:spPr>
          <a:xfrm>
            <a:off x="9791700" y="3131820"/>
            <a:ext cx="8191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850" dirty="0"/>
          </a:p>
        </p:txBody>
      </p:sp>
      <p:sp>
        <p:nvSpPr>
          <p:cNvPr id="48" name="Text 46"/>
          <p:cNvSpPr/>
          <p:nvPr/>
        </p:nvSpPr>
        <p:spPr>
          <a:xfrm>
            <a:off x="9939099" y="4008120"/>
            <a:ext cx="6005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B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سلمى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9638824" y="4541520"/>
            <a:ext cx="1125022" cy="415290"/>
          </a:xfrm>
          <a:prstGeom prst="roundRect">
            <a:avLst>
              <a:gd name="adj" fmla="val 50000"/>
            </a:avLst>
          </a:prstGeom>
          <a:solidFill>
            <a:srgbClr val="3FC6C9"/>
          </a:solidFill>
          <a:ln/>
        </p:spPr>
      </p:sp>
      <p:sp>
        <p:nvSpPr>
          <p:cNvPr id="50" name="Text 48"/>
          <p:cNvSpPr/>
          <p:nvPr/>
        </p:nvSpPr>
        <p:spPr>
          <a:xfrm>
            <a:off x="9924574" y="4646295"/>
            <a:ext cx="62972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جاهزة 👍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838134" y="5711190"/>
            <a:ext cx="8026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٣. سلّم التليفون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115175" y="1501140"/>
            <a:ext cx="1943100" cy="4095750"/>
          </a:xfrm>
          <a:prstGeom prst="roundRect">
            <a:avLst>
              <a:gd name="adj" fmla="val 14706"/>
            </a:avLst>
          </a:prstGeom>
          <a:solidFill>
            <a:srgbClr val="08272A"/>
          </a:solidFill>
          <a:ln/>
          <a:effectLst>
            <a:outerShdw sx="100000" sy="100000" kx="0" ky="0" algn="bl" rotWithShape="0" blurRad="419100" dist="209550" dir="5400000">
              <a:srgbClr val="000000">
                <a:alpha val="4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181850" y="1567815"/>
            <a:ext cx="1809750" cy="3962400"/>
          </a:xfrm>
          <a:prstGeom prst="roundRect">
            <a:avLst>
              <a:gd name="adj" fmla="val 12632"/>
            </a:avLst>
          </a:prstGeom>
          <a:solidFill>
            <a:srgbClr val="FBF6EA"/>
          </a:solidFill>
          <a:ln/>
        </p:spPr>
      </p:sp>
      <p:sp>
        <p:nvSpPr>
          <p:cNvPr id="54" name="Shape 52"/>
          <p:cNvSpPr/>
          <p:nvPr/>
        </p:nvSpPr>
        <p:spPr>
          <a:xfrm>
            <a:off x="8179356" y="1720215"/>
            <a:ext cx="688419" cy="243840"/>
          </a:xfrm>
          <a:prstGeom prst="roundRect">
            <a:avLst>
              <a:gd name="adj" fmla="val 50000"/>
            </a:avLst>
          </a:prstGeom>
          <a:solidFill>
            <a:srgbClr val="134A4E"/>
          </a:solidFill>
          <a:ln/>
        </p:spPr>
      </p:sp>
      <p:sp>
        <p:nvSpPr>
          <p:cNvPr id="55" name="Text 53"/>
          <p:cNvSpPr/>
          <p:nvPr/>
        </p:nvSpPr>
        <p:spPr>
          <a:xfrm>
            <a:off x="8265081" y="1758315"/>
            <a:ext cx="593169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سلمى ٥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7305675" y="1739265"/>
            <a:ext cx="46863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🛡️🔥</a:t>
            </a:r>
            <a:endParaRPr lang="en-US" sz="1125" dirty="0"/>
          </a:p>
        </p:txBody>
      </p:sp>
      <p:sp>
        <p:nvSpPr>
          <p:cNvPr id="57" name="Shape 55"/>
          <p:cNvSpPr/>
          <p:nvPr/>
        </p:nvSpPr>
        <p:spPr>
          <a:xfrm>
            <a:off x="7305675" y="2059305"/>
            <a:ext cx="1562100" cy="2023110"/>
          </a:xfrm>
          <a:prstGeom prst="roundRect">
            <a:avLst>
              <a:gd name="adj" fmla="val 9756"/>
            </a:avLst>
          </a:prstGeom>
          <a:solidFill>
            <a:srgbClr val="134A4E"/>
          </a:solidFill>
          <a:ln/>
        </p:spPr>
      </p:sp>
      <p:sp>
        <p:nvSpPr>
          <p:cNvPr id="58" name="Text 56"/>
          <p:cNvSpPr/>
          <p:nvPr/>
        </p:nvSpPr>
        <p:spPr>
          <a:xfrm>
            <a:off x="7353300" y="2733675"/>
            <a:ext cx="14668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سؤال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381875" y="2962275"/>
            <a:ext cx="1409700" cy="48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كتاب فيه اسم مدينة 🏙️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7734300" y="4196715"/>
            <a:ext cx="704850" cy="704850"/>
          </a:xfrm>
          <a:prstGeom prst="ellipse">
            <a:avLst/>
          </a:prstGeom>
          <a:solidFill>
            <a:srgbClr val="E23D3D"/>
          </a:solidFill>
          <a:ln/>
        </p:spPr>
      </p:sp>
      <p:sp>
        <p:nvSpPr>
          <p:cNvPr id="61" name="Shape 59"/>
          <p:cNvSpPr/>
          <p:nvPr/>
        </p:nvSpPr>
        <p:spPr>
          <a:xfrm>
            <a:off x="7810500" y="4272915"/>
            <a:ext cx="552450" cy="552450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62" name="Text 60"/>
          <p:cNvSpPr/>
          <p:nvPr/>
        </p:nvSpPr>
        <p:spPr>
          <a:xfrm>
            <a:off x="7772400" y="427291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2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٠٣</a:t>
            </a:r>
            <a:endParaRPr lang="en-US" sz="1950" dirty="0"/>
          </a:p>
        </p:txBody>
      </p:sp>
      <p:sp>
        <p:nvSpPr>
          <p:cNvPr id="63" name="Shape 61"/>
          <p:cNvSpPr/>
          <p:nvPr/>
        </p:nvSpPr>
        <p:spPr>
          <a:xfrm>
            <a:off x="8124825" y="5015865"/>
            <a:ext cx="742950" cy="361950"/>
          </a:xfrm>
          <a:prstGeom prst="roundRect">
            <a:avLst>
              <a:gd name="adj" fmla="val 28947"/>
            </a:avLst>
          </a:prstGeom>
          <a:solidFill>
            <a:srgbClr val="1F9D57"/>
          </a:solidFill>
          <a:ln/>
        </p:spPr>
      </p:sp>
      <p:sp>
        <p:nvSpPr>
          <p:cNvPr id="64" name="Text 62"/>
          <p:cNvSpPr/>
          <p:nvPr/>
        </p:nvSpPr>
        <p:spPr>
          <a:xfrm>
            <a:off x="8086725" y="5101590"/>
            <a:ext cx="8191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صح</a:t>
            </a:r>
            <a:endParaRPr lang="en-US" sz="1125" dirty="0"/>
          </a:p>
        </p:txBody>
      </p:sp>
      <p:sp>
        <p:nvSpPr>
          <p:cNvPr id="65" name="Shape 63"/>
          <p:cNvSpPr/>
          <p:nvPr/>
        </p:nvSpPr>
        <p:spPr>
          <a:xfrm>
            <a:off x="7305675" y="5015865"/>
            <a:ext cx="742950" cy="361950"/>
          </a:xfrm>
          <a:prstGeom prst="roundRect">
            <a:avLst>
              <a:gd name="adj" fmla="val 28947"/>
            </a:avLst>
          </a:prstGeom>
          <a:solidFill>
            <a:srgbClr val="E23D3D"/>
          </a:solidFill>
          <a:ln/>
        </p:spPr>
      </p:sp>
      <p:sp>
        <p:nvSpPr>
          <p:cNvPr id="66" name="Text 64"/>
          <p:cNvSpPr/>
          <p:nvPr/>
        </p:nvSpPr>
        <p:spPr>
          <a:xfrm>
            <a:off x="7267575" y="5101590"/>
            <a:ext cx="8191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غلط</a:t>
            </a:r>
            <a:endParaRPr lang="en-US" sz="1125" dirty="0"/>
          </a:p>
        </p:txBody>
      </p:sp>
      <p:sp>
        <p:nvSpPr>
          <p:cNvPr id="67" name="Text 65"/>
          <p:cNvSpPr/>
          <p:nvPr/>
        </p:nvSpPr>
        <p:spPr>
          <a:xfrm>
            <a:off x="7872532" y="5711190"/>
            <a:ext cx="50458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٤. اللعب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000625" y="1501140"/>
            <a:ext cx="1943100" cy="4095750"/>
          </a:xfrm>
          <a:prstGeom prst="roundRect">
            <a:avLst>
              <a:gd name="adj" fmla="val 14706"/>
            </a:avLst>
          </a:prstGeom>
          <a:solidFill>
            <a:srgbClr val="08272A"/>
          </a:solidFill>
          <a:ln/>
          <a:effectLst>
            <a:outerShdw sx="100000" sy="100000" kx="0" ky="0" algn="bl" rotWithShape="0" blurRad="419100" dist="209550" dir="5400000">
              <a:srgbClr val="000000">
                <a:alpha val="4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067300" y="1567815"/>
            <a:ext cx="1809750" cy="3962400"/>
          </a:xfrm>
          <a:prstGeom prst="roundRect">
            <a:avLst>
              <a:gd name="adj" fmla="val 12632"/>
            </a:avLst>
          </a:prstGeom>
          <a:gradFill rotWithShape="1">
            <a:gsLst>
              <a:gs pos="0">
                <a:srgbClr val="27B06A">
                  <a:alpha val="100000"/>
                </a:srgbClr>
              </a:gs>
              <a:gs pos="100000">
                <a:srgbClr val="16864D">
                  <a:alpha val="100000"/>
                </a:srgbClr>
              </a:gs>
            </a:gsLst>
            <a:path path="circle">
              <a:fillToRect l="50000" t="35000" r="50000" b="65000"/>
            </a:path>
          </a:gradFill>
          <a:ln/>
        </p:spPr>
      </p:sp>
      <p:sp>
        <p:nvSpPr>
          <p:cNvPr id="70" name="Shape 68"/>
          <p:cNvSpPr/>
          <p:nvPr/>
        </p:nvSpPr>
        <p:spPr>
          <a:xfrm rot="1199999">
            <a:off x="5295900" y="1853565"/>
            <a:ext cx="95250" cy="95250"/>
          </a:xfrm>
          <a:prstGeom prst="roundRect">
            <a:avLst>
              <a:gd name="adj" fmla="val 20000"/>
            </a:avLst>
          </a:prstGeom>
          <a:solidFill>
            <a:srgbClr val="F5B83E"/>
          </a:solidFill>
          <a:ln/>
        </p:spPr>
      </p:sp>
      <p:sp>
        <p:nvSpPr>
          <p:cNvPr id="71" name="Shape 69"/>
          <p:cNvSpPr/>
          <p:nvPr/>
        </p:nvSpPr>
        <p:spPr>
          <a:xfrm rot="-900000">
            <a:off x="6496050" y="2139315"/>
            <a:ext cx="95250" cy="95250"/>
          </a:xfrm>
          <a:prstGeom prst="roundRect">
            <a:avLst>
              <a:gd name="adj" fmla="val 20000"/>
            </a:avLst>
          </a:prstGeom>
          <a:solidFill>
            <a:srgbClr val="FBF6EA"/>
          </a:solidFill>
          <a:ln/>
        </p:spPr>
      </p:sp>
      <p:sp>
        <p:nvSpPr>
          <p:cNvPr id="72" name="Shape 70"/>
          <p:cNvSpPr/>
          <p:nvPr/>
        </p:nvSpPr>
        <p:spPr>
          <a:xfrm rot="1800001">
            <a:off x="5391150" y="4672965"/>
            <a:ext cx="95250" cy="95250"/>
          </a:xfrm>
          <a:prstGeom prst="roundRect">
            <a:avLst>
              <a:gd name="adj" fmla="val 20000"/>
            </a:avLst>
          </a:prstGeom>
          <a:solidFill>
            <a:srgbClr val="3FC6C9"/>
          </a:solidFill>
          <a:ln/>
        </p:spPr>
      </p:sp>
      <p:sp>
        <p:nvSpPr>
          <p:cNvPr id="73" name="Text 71"/>
          <p:cNvSpPr/>
          <p:nvPr/>
        </p:nvSpPr>
        <p:spPr>
          <a:xfrm>
            <a:off x="5619036" y="2360295"/>
            <a:ext cx="782479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4050" dirty="0"/>
          </a:p>
        </p:txBody>
      </p:sp>
      <p:sp>
        <p:nvSpPr>
          <p:cNvPr id="74" name="Text 72"/>
          <p:cNvSpPr/>
          <p:nvPr/>
        </p:nvSpPr>
        <p:spPr>
          <a:xfrm>
            <a:off x="5673566" y="3240405"/>
            <a:ext cx="67341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صح!</a:t>
            </a:r>
            <a:endParaRPr lang="en-US" sz="2850" dirty="0"/>
          </a:p>
        </p:txBody>
      </p:sp>
      <p:sp>
        <p:nvSpPr>
          <p:cNvPr id="75" name="Shape 73"/>
          <p:cNvSpPr/>
          <p:nvPr/>
        </p:nvSpPr>
        <p:spPr>
          <a:xfrm>
            <a:off x="5491043" y="3792855"/>
            <a:ext cx="962382" cy="37338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5700593" y="3869055"/>
            <a:ext cx="61948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+١ نقطة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5429488" y="4356735"/>
            <a:ext cx="1085374" cy="381000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/>
        </p:spPr>
      </p:sp>
      <p:sp>
        <p:nvSpPr>
          <p:cNvPr id="78" name="Text 76"/>
          <p:cNvSpPr/>
          <p:nvPr/>
        </p:nvSpPr>
        <p:spPr>
          <a:xfrm>
            <a:off x="5658088" y="4451985"/>
            <a:ext cx="70437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68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اللي بعده ➡️</a:t>
            </a:r>
            <a:endParaRPr lang="en-US" sz="1125" dirty="0"/>
          </a:p>
        </p:txBody>
      </p:sp>
      <p:sp>
        <p:nvSpPr>
          <p:cNvPr id="79" name="Text 77"/>
          <p:cNvSpPr/>
          <p:nvPr/>
        </p:nvSpPr>
        <p:spPr>
          <a:xfrm>
            <a:off x="5733455" y="5711190"/>
            <a:ext cx="55376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٥. النتيجة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886075" y="1501140"/>
            <a:ext cx="1943100" cy="4095750"/>
          </a:xfrm>
          <a:prstGeom prst="roundRect">
            <a:avLst>
              <a:gd name="adj" fmla="val 14706"/>
            </a:avLst>
          </a:prstGeom>
          <a:solidFill>
            <a:srgbClr val="08272A"/>
          </a:solidFill>
          <a:ln/>
          <a:effectLst>
            <a:outerShdw sx="100000" sy="100000" kx="0" ky="0" algn="bl" rotWithShape="0" blurRad="419100" dist="209550" dir="5400000">
              <a:srgbClr val="000000">
                <a:alpha val="4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2952750" y="1567815"/>
            <a:ext cx="1809750" cy="3962400"/>
          </a:xfrm>
          <a:prstGeom prst="roundRect">
            <a:avLst>
              <a:gd name="adj" fmla="val 12632"/>
            </a:avLst>
          </a:prstGeom>
          <a:gradFill rotWithShape="1">
            <a:gsLst>
              <a:gs pos="0">
                <a:srgbClr val="1A5E62">
                  <a:alpha val="100000"/>
                </a:srgbClr>
              </a:gs>
              <a:gs pos="100000">
                <a:srgbClr val="0C3134">
                  <a:alpha val="100000"/>
                </a:srgbClr>
              </a:gs>
            </a:gsLst>
            <a:path path="circle">
              <a:fillToRect l="50000" t="20000" r="50000" b="80000"/>
            </a:path>
          </a:gradFill>
          <a:ln/>
        </p:spPr>
      </p:sp>
      <p:sp>
        <p:nvSpPr>
          <p:cNvPr id="82" name="Text 80"/>
          <p:cNvSpPr/>
          <p:nvPr/>
        </p:nvSpPr>
        <p:spPr>
          <a:xfrm>
            <a:off x="3019425" y="1758315"/>
            <a:ext cx="16764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B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النتيجة النهائية</a:t>
            </a:r>
            <a:endParaRPr lang="en-US" sz="1500" dirty="0"/>
          </a:p>
        </p:txBody>
      </p:sp>
      <p:sp>
        <p:nvSpPr>
          <p:cNvPr id="83" name="Shape 81"/>
          <p:cNvSpPr/>
          <p:nvPr/>
        </p:nvSpPr>
        <p:spPr>
          <a:xfrm>
            <a:off x="3095625" y="2693670"/>
            <a:ext cx="1524000" cy="464820"/>
          </a:xfrm>
          <a:prstGeom prst="roundRect">
            <a:avLst>
              <a:gd name="adj" fmla="val 24590"/>
            </a:avLst>
          </a:prstGeom>
          <a:solidFill>
            <a:srgbClr val="F5B83E"/>
          </a:solidFill>
          <a:ln/>
        </p:spPr>
      </p:sp>
      <p:sp>
        <p:nvSpPr>
          <p:cNvPr id="84" name="Text 82"/>
          <p:cNvSpPr/>
          <p:nvPr/>
        </p:nvSpPr>
        <p:spPr>
          <a:xfrm>
            <a:off x="4243745" y="2788920"/>
            <a:ext cx="33778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</a:t>
            </a:r>
            <a:endParaRPr lang="en-US" sz="1500" dirty="0"/>
          </a:p>
        </p:txBody>
      </p:sp>
      <p:sp>
        <p:nvSpPr>
          <p:cNvPr id="85" name="Text 83"/>
          <p:cNvSpPr/>
          <p:nvPr/>
        </p:nvSpPr>
        <p:spPr>
          <a:xfrm>
            <a:off x="3385899" y="2838450"/>
            <a:ext cx="84832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سلمى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3209925" y="2827020"/>
            <a:ext cx="166449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1350" dirty="0"/>
          </a:p>
        </p:txBody>
      </p:sp>
      <p:sp>
        <p:nvSpPr>
          <p:cNvPr id="87" name="Shape 85"/>
          <p:cNvSpPr/>
          <p:nvPr/>
        </p:nvSpPr>
        <p:spPr>
          <a:xfrm>
            <a:off x="3095625" y="3234690"/>
            <a:ext cx="1524000" cy="464820"/>
          </a:xfrm>
          <a:prstGeom prst="roundRect">
            <a:avLst>
              <a:gd name="adj" fmla="val 24590"/>
            </a:avLst>
          </a:prstGeom>
          <a:solidFill>
            <a:srgbClr val="FBF6EA">
              <a:alpha val="92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4243745" y="3329940"/>
            <a:ext cx="33778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3385899" y="3379470"/>
            <a:ext cx="84832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أحمد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3209925" y="3368040"/>
            <a:ext cx="166449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1350" dirty="0"/>
          </a:p>
        </p:txBody>
      </p:sp>
      <p:sp>
        <p:nvSpPr>
          <p:cNvPr id="91" name="Shape 89"/>
          <p:cNvSpPr/>
          <p:nvPr/>
        </p:nvSpPr>
        <p:spPr>
          <a:xfrm>
            <a:off x="3095625" y="3775710"/>
            <a:ext cx="1524000" cy="464820"/>
          </a:xfrm>
          <a:prstGeom prst="roundRect">
            <a:avLst>
              <a:gd name="adj" fmla="val 24590"/>
            </a:avLst>
          </a:prstGeom>
          <a:solidFill>
            <a:srgbClr val="FBF6EA">
              <a:alpha val="92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4243745" y="3870960"/>
            <a:ext cx="33778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</a:t>
            </a:r>
            <a:endParaRPr lang="en-US" sz="1500" dirty="0"/>
          </a:p>
        </p:txBody>
      </p:sp>
      <p:sp>
        <p:nvSpPr>
          <p:cNvPr id="93" name="Text 91"/>
          <p:cNvSpPr/>
          <p:nvPr/>
        </p:nvSpPr>
        <p:spPr>
          <a:xfrm>
            <a:off x="3385899" y="3920490"/>
            <a:ext cx="84832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مايا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3209925" y="3909060"/>
            <a:ext cx="166449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1350" dirty="0"/>
          </a:p>
        </p:txBody>
      </p:sp>
      <p:sp>
        <p:nvSpPr>
          <p:cNvPr id="95" name="Shape 93"/>
          <p:cNvSpPr/>
          <p:nvPr/>
        </p:nvSpPr>
        <p:spPr>
          <a:xfrm>
            <a:off x="3095625" y="4924425"/>
            <a:ext cx="1524000" cy="415290"/>
          </a:xfrm>
          <a:prstGeom prst="roundRect">
            <a:avLst>
              <a:gd name="adj" fmla="val 29817"/>
            </a:avLst>
          </a:prstGeom>
          <a:solidFill>
            <a:srgbClr val="3FC6C9"/>
          </a:solidFill>
          <a:ln/>
        </p:spPr>
      </p:sp>
      <p:sp>
        <p:nvSpPr>
          <p:cNvPr id="96" name="Text 94"/>
          <p:cNvSpPr/>
          <p:nvPr/>
        </p:nvSpPr>
        <p:spPr>
          <a:xfrm>
            <a:off x="3057525" y="5029200"/>
            <a:ext cx="160020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العب تاني 🔄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3630335" y="5711190"/>
            <a:ext cx="53090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٦. النهاية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A5E62">
                  <a:alpha val="100000"/>
                </a:srgbClr>
              </a:gs>
              <a:gs pos="55000">
                <a:srgbClr val="134A4E">
                  <a:alpha val="100000"/>
                </a:srgbClr>
              </a:gs>
              <a:gs pos="100000">
                <a:srgbClr val="0C3134">
                  <a:alpha val="100000"/>
                </a:srgbClr>
              </a:gs>
            </a:gsLst>
            <a:path path="circle">
              <a:fillToRect l="20000" t="15000" r="80000" b="85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2766060"/>
            <a:ext cx="1781175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5" kern="0" dirty="0">
                <a:solidFill>
                  <a:srgbClr val="3F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ليه هتنجح؟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47750" y="3143250"/>
            <a:ext cx="178117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5B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نقاط القوة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9277350" y="4267200"/>
            <a:ext cx="7962900" cy="1493520"/>
          </a:xfrm>
          <a:prstGeom prst="roundRect">
            <a:avLst>
              <a:gd name="adj" fmla="val 15306"/>
            </a:avLst>
          </a:prstGeom>
          <a:solidFill>
            <a:srgbClr val="3FC6C9">
              <a:alpha val="8000"/>
            </a:srgbClr>
          </a:solidFill>
          <a:ln w="7620">
            <a:solidFill>
              <a:srgbClr val="3FC6C9">
                <a:alpha val="2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124039" y="4598670"/>
            <a:ext cx="860941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🦠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1891129" y="4640104"/>
            <a:ext cx="440474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فيروسية بالتصميم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91129" y="5059204"/>
            <a:ext cx="440474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FBF6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الأحكام نفسها بتنشر اللعبة على السوشيال.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1047750" y="4267200"/>
            <a:ext cx="7962900" cy="1493520"/>
          </a:xfrm>
          <a:prstGeom prst="roundRect">
            <a:avLst>
              <a:gd name="adj" fmla="val 15306"/>
            </a:avLst>
          </a:prstGeom>
          <a:solidFill>
            <a:srgbClr val="3FC6C9">
              <a:alpha val="8000"/>
            </a:srgbClr>
          </a:solidFill>
          <a:ln w="7620">
            <a:solidFill>
              <a:srgbClr val="3FC6C9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94439" y="4598670"/>
            <a:ext cx="860941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♾️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3696414" y="4640104"/>
            <a:ext cx="43663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لا نهائي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96414" y="5059204"/>
            <a:ext cx="4366367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FBF6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متخلصش — كل مرة لعبة مختلفة، زي الأونو.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9277350" y="6027420"/>
            <a:ext cx="7962900" cy="1493520"/>
          </a:xfrm>
          <a:prstGeom prst="roundRect">
            <a:avLst>
              <a:gd name="adj" fmla="val 15306"/>
            </a:avLst>
          </a:prstGeom>
          <a:solidFill>
            <a:srgbClr val="3FC6C9">
              <a:alpha val="8000"/>
            </a:srgbClr>
          </a:solidFill>
          <a:ln w="7620">
            <a:solidFill>
              <a:srgbClr val="3FC6C9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124039" y="6358890"/>
            <a:ext cx="860941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12464653" y="6400324"/>
            <a:ext cx="37738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بتشجّع القراءة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464653" y="6819424"/>
            <a:ext cx="37738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FBF6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بطريقة لذيذة ومرحة، مش واجب ثقيل.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1047750" y="6027420"/>
            <a:ext cx="7962900" cy="1493520"/>
          </a:xfrm>
          <a:prstGeom prst="roundRect">
            <a:avLst>
              <a:gd name="adj" fmla="val 15306"/>
            </a:avLst>
          </a:prstGeom>
          <a:solidFill>
            <a:srgbClr val="3FC6C9">
              <a:alpha val="8000"/>
            </a:srgbClr>
          </a:solidFill>
          <a:ln w="7620">
            <a:solidFill>
              <a:srgbClr val="3FC6C9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4439" y="6358890"/>
            <a:ext cx="860941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👫</a:t>
            </a:r>
            <a:endParaRPr lang="en-US" sz="4500" dirty="0"/>
          </a:p>
        </p:txBody>
      </p:sp>
      <p:sp>
        <p:nvSpPr>
          <p:cNvPr id="19" name="Text 17"/>
          <p:cNvSpPr/>
          <p:nvPr/>
        </p:nvSpPr>
        <p:spPr>
          <a:xfrm>
            <a:off x="4494847" y="6400324"/>
            <a:ext cx="348809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BF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اجتماعية بالكامل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494847" y="6819424"/>
            <a:ext cx="348809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FBF6EA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مفيش متفرّج — الكل بيحكم ويتريّق.</a:t>
            </a:r>
            <a:endParaRPr lang="en-US" sz="17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A5E62">
                  <a:alpha val="100000"/>
                </a:srgbClr>
              </a:gs>
              <a:gs pos="45000">
                <a:srgbClr val="0F3E42">
                  <a:alpha val="100000"/>
                </a:srgbClr>
              </a:gs>
              <a:gs pos="100000">
                <a:srgbClr val="0C3134">
                  <a:alpha val="100000"/>
                </a:srgbClr>
              </a:gs>
            </a:gsLst>
            <a:path path="circle">
              <a:fillToRect l="50000" t="100000" r="5000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8572500" y="2438400"/>
            <a:ext cx="666750" cy="666750"/>
          </a:xfrm>
          <a:prstGeom prst="ellipse">
            <a:avLst/>
          </a:prstGeom>
          <a:ln w="83820">
            <a:solidFill>
              <a:srgbClr val="F5B8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48750" y="2438400"/>
            <a:ext cx="666750" cy="666750"/>
          </a:xfrm>
          <a:prstGeom prst="ellipse">
            <a:avLst/>
          </a:prstGeom>
          <a:ln w="83820">
            <a:solidFill>
              <a:srgbClr val="3FC6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06835" y="3228975"/>
            <a:ext cx="3874449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5B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متاحة دلوقتي 🎉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02056" y="3952875"/>
            <a:ext cx="368388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BF6EA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أونلاين على الويب · وتطبيق أندرويد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15450" y="4756785"/>
            <a:ext cx="5638800" cy="1821180"/>
          </a:xfrm>
          <a:prstGeom prst="roundRect">
            <a:avLst>
              <a:gd name="adj" fmla="val 13598"/>
            </a:avLst>
          </a:prstGeom>
          <a:solidFill>
            <a:srgbClr val="FBF6EA"/>
          </a:solidFill>
          <a:ln/>
        </p:spPr>
      </p:sp>
      <p:sp>
        <p:nvSpPr>
          <p:cNvPr id="8" name="Shape 6"/>
          <p:cNvSpPr/>
          <p:nvPr/>
        </p:nvSpPr>
        <p:spPr>
          <a:xfrm>
            <a:off x="13361670" y="5042535"/>
            <a:ext cx="1249680" cy="1249680"/>
          </a:xfrm>
          <a:prstGeom prst="roundRect">
            <a:avLst>
              <a:gd name="adj" fmla="val 12195"/>
            </a:avLst>
          </a:prstGeom>
          <a:solidFill>
            <a:srgbClr val="0C3134"/>
          </a:solidFill>
          <a:ln w="53340">
            <a:solidFill>
              <a:srgbClr val="FBF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33729" y="5324475"/>
            <a:ext cx="362927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العب على الويب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503795" y="5804535"/>
            <a:ext cx="362927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A5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salma-alwardany.github.io/hub-cards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33750" y="4756785"/>
            <a:ext cx="5638800" cy="1821180"/>
          </a:xfrm>
          <a:prstGeom prst="roundRect">
            <a:avLst>
              <a:gd name="adj" fmla="val 13598"/>
            </a:avLst>
          </a:prstGeom>
          <a:solidFill>
            <a:srgbClr val="FBF6EA"/>
          </a:solidFill>
          <a:ln/>
        </p:spPr>
      </p:sp>
      <p:sp>
        <p:nvSpPr>
          <p:cNvPr id="12" name="Shape 10"/>
          <p:cNvSpPr/>
          <p:nvPr/>
        </p:nvSpPr>
        <p:spPr>
          <a:xfrm>
            <a:off x="7379970" y="5042535"/>
            <a:ext cx="1249680" cy="1249680"/>
          </a:xfrm>
          <a:prstGeom prst="roundRect">
            <a:avLst>
              <a:gd name="adj" fmla="val 12195"/>
            </a:avLst>
          </a:prstGeom>
          <a:solidFill>
            <a:srgbClr val="134A4E"/>
          </a:solidFill>
          <a:ln w="53340">
            <a:solidFill>
              <a:srgbClr val="FBF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1519" y="5324475"/>
            <a:ext cx="2881837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حمّل أندرويد (APK)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69534" y="5804535"/>
            <a:ext cx="288183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A51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github.com/…/hub-cards.apk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26693" y="7054215"/>
            <a:ext cx="6434614" cy="861060"/>
          </a:xfrm>
          <a:prstGeom prst="roundRect">
            <a:avLst>
              <a:gd name="adj" fmla="val 50000"/>
            </a:avLst>
          </a:prstGeom>
          <a:solidFill>
            <a:srgbClr val="F5B83E"/>
          </a:solidFill>
          <a:ln/>
          <a:effectLst>
            <a:outerShdw sx="100000" sy="100000" kx="0" ky="0" algn="bl" rotWithShape="0" blurRad="381000" dist="152400" dir="5400000">
              <a:srgbClr val="F5B83E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60093" y="7244715"/>
            <a:ext cx="5560852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C3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يلا نلعب — اقرأ، جاوب… أو نفّذ الحُكم! 🎴</a:t>
            </a:r>
            <a:endParaRPr lang="en-US" sz="2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2026-06-19T20:17:17Z</dcterms:created>
  <dcterms:modified xsi:type="dcterms:W3CDTF">2026-06-19T20:17:17Z</dcterms:modified>
</cp:coreProperties>
</file>